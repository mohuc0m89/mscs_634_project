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58" d="100"/>
          <a:sy n="58" d="100"/>
        </p:scale>
        <p:origin x="1140"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B4A549-39A1-4551-B00F-068A46745D6C}" type="datetimeFigureOut">
              <a:rPr lang="en-US" smtClean="0"/>
              <a:t>4/22/2026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E65C8D-442B-4200-B55D-D138FBAF3EEE}" type="slidenum">
              <a:rPr lang="en-US" smtClean="0"/>
              <a:t>‹#›</a:t>
            </a:fld>
            <a:endParaRPr lang="en-US"/>
          </a:p>
        </p:txBody>
      </p:sp>
    </p:spTree>
    <p:extLst>
      <p:ext uri="{BB962C8B-B14F-4D97-AF65-F5344CB8AC3E}">
        <p14:creationId xmlns:p14="http://schemas.microsoft.com/office/powerpoint/2010/main" val="29044517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focuses on analyzing an online retail dataset to extract meaningful business insights. The main objective is to understand customer behavior, product performance, and sales trends using data analytics techniques. By applying methods such as exploratory data analysis, regression, classification, clustering, and association rule mining, the study transforms raw transactional data into actionable intelligence. The dataset provides a real-world scenario where businesses can improve decision-making through data-driven strategies. Overall, the project demonstrates how modern analytics tools can help organizations gain competitive advantage, enhance customer experience, and optimize operations in a rapidly growing e-commerce environment through informed insights and predictive modeling approaches.</a:t>
            </a:r>
          </a:p>
        </p:txBody>
      </p:sp>
      <p:sp>
        <p:nvSpPr>
          <p:cNvPr id="4" name="Slide Number Placeholder 3"/>
          <p:cNvSpPr>
            <a:spLocks noGrp="1"/>
          </p:cNvSpPr>
          <p:nvPr>
            <p:ph type="sldNum" sz="quarter" idx="5"/>
          </p:nvPr>
        </p:nvSpPr>
        <p:spPr/>
        <p:txBody>
          <a:bodyPr/>
          <a:lstStyle/>
          <a:p>
            <a:fld id="{FDE65C8D-442B-4200-B55D-D138FBAF3EEE}" type="slidenum">
              <a:rPr lang="en-US" smtClean="0"/>
              <a:t>2</a:t>
            </a:fld>
            <a:endParaRPr lang="en-US"/>
          </a:p>
        </p:txBody>
      </p:sp>
    </p:spTree>
    <p:extLst>
      <p:ext uri="{BB962C8B-B14F-4D97-AF65-F5344CB8AC3E}">
        <p14:creationId xmlns:p14="http://schemas.microsoft.com/office/powerpoint/2010/main" val="13415532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used in this project consists of transactional data from an online retail store, including variables such as </a:t>
            </a:r>
            <a:r>
              <a:rPr lang="en-US" dirty="0" err="1"/>
              <a:t>CustomerID</a:t>
            </a:r>
            <a:r>
              <a:rPr lang="en-US" dirty="0"/>
              <a:t>, </a:t>
            </a:r>
            <a:r>
              <a:rPr lang="en-US" dirty="0" err="1"/>
              <a:t>InvoiceDate</a:t>
            </a:r>
            <a:r>
              <a:rPr lang="en-US" dirty="0"/>
              <a:t>, Quantity, </a:t>
            </a:r>
            <a:r>
              <a:rPr lang="en-US" dirty="0" err="1"/>
              <a:t>UnitPrice</a:t>
            </a:r>
            <a:r>
              <a:rPr lang="en-US" dirty="0"/>
              <a:t>, and Country. It captures purchasing behavior across multiple regions, with the United Kingdom contributing the majority of transactions. Feature engineering was applied to create additional variables such as Recency, Frequency, and Monetary value, which help better understand customer behavior. These derived metrics are essential for segmentation and predictive modeling. The dataset’s structure, combining numerical and categorical variables, makes it highly suitable for both descriptive and advanced analytics, enabling a comprehensive understanding of sales patterns and customer interactions within the business environment.</a:t>
            </a:r>
          </a:p>
        </p:txBody>
      </p:sp>
      <p:sp>
        <p:nvSpPr>
          <p:cNvPr id="4" name="Slide Number Placeholder 3"/>
          <p:cNvSpPr>
            <a:spLocks noGrp="1"/>
          </p:cNvSpPr>
          <p:nvPr>
            <p:ph type="sldNum" sz="quarter" idx="5"/>
          </p:nvPr>
        </p:nvSpPr>
        <p:spPr/>
        <p:txBody>
          <a:bodyPr/>
          <a:lstStyle/>
          <a:p>
            <a:fld id="{FDE65C8D-442B-4200-B55D-D138FBAF3EEE}" type="slidenum">
              <a:rPr lang="en-US" smtClean="0"/>
              <a:t>3</a:t>
            </a:fld>
            <a:endParaRPr lang="en-US"/>
          </a:p>
        </p:txBody>
      </p:sp>
    </p:spTree>
    <p:extLst>
      <p:ext uri="{BB962C8B-B14F-4D97-AF65-F5344CB8AC3E}">
        <p14:creationId xmlns:p14="http://schemas.microsoft.com/office/powerpoint/2010/main" val="38677748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preprocessing played a critical role in ensuring the quality and reliability of the analysis. One of the main challenges was handling missing values, particularly in the </a:t>
            </a:r>
            <a:r>
              <a:rPr lang="en-US" dirty="0" err="1"/>
              <a:t>CustomerID</a:t>
            </a:r>
            <a:r>
              <a:rPr lang="en-US" dirty="0"/>
              <a:t> field, which had a significant percentage of missing entries. These were addressed by removing incomplete records to maintain data integrity. Outliers in the </a:t>
            </a:r>
            <a:r>
              <a:rPr lang="en-US" dirty="0" err="1"/>
              <a:t>UnitPrice</a:t>
            </a:r>
            <a:r>
              <a:rPr lang="en-US" dirty="0"/>
              <a:t> variable were managed by applying clipping techniques to reduce their impact on analysis. Additionally, duplicate records and inconsistencies were removed. Feature engineering was performed to create variables such as Recency, Frequency, and Monetary value. These steps improved data quality and prepared the dataset for accurate modeling and meaningful analytical insights generation.</a:t>
            </a:r>
          </a:p>
        </p:txBody>
      </p:sp>
      <p:sp>
        <p:nvSpPr>
          <p:cNvPr id="4" name="Slide Number Placeholder 3"/>
          <p:cNvSpPr>
            <a:spLocks noGrp="1"/>
          </p:cNvSpPr>
          <p:nvPr>
            <p:ph type="sldNum" sz="quarter" idx="5"/>
          </p:nvPr>
        </p:nvSpPr>
        <p:spPr/>
        <p:txBody>
          <a:bodyPr/>
          <a:lstStyle/>
          <a:p>
            <a:fld id="{FDE65C8D-442B-4200-B55D-D138FBAF3EEE}" type="slidenum">
              <a:rPr lang="en-US" smtClean="0"/>
              <a:t>4</a:t>
            </a:fld>
            <a:endParaRPr lang="en-US"/>
          </a:p>
        </p:txBody>
      </p:sp>
    </p:spTree>
    <p:extLst>
      <p:ext uri="{BB962C8B-B14F-4D97-AF65-F5344CB8AC3E}">
        <p14:creationId xmlns:p14="http://schemas.microsoft.com/office/powerpoint/2010/main" val="2812358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Exploratory data analysis revealed several important patterns in the dataset. Monthly sales trends showed fluctuations, with increased activity in later months, indicating seasonal demand. Product-level analysis showed that a few products contribute significantly to overall sales, highlighting key revenue drivers. Geographic analysis revealed that the United Kingdom dominates the dataset, followed by smaller contributions from other countries. The price distribution indicated that most products are low-cost, with a few high-value outliers. Correlation analysis showed strong relationships between frequency, monetary value, and total items purchased. These insights provide a deeper understanding of customer behavior and business performance, guiding strategic decisions effectively.</a:t>
            </a:r>
          </a:p>
        </p:txBody>
      </p:sp>
      <p:sp>
        <p:nvSpPr>
          <p:cNvPr id="4" name="Slide Number Placeholder 3"/>
          <p:cNvSpPr>
            <a:spLocks noGrp="1"/>
          </p:cNvSpPr>
          <p:nvPr>
            <p:ph type="sldNum" sz="quarter" idx="5"/>
          </p:nvPr>
        </p:nvSpPr>
        <p:spPr/>
        <p:txBody>
          <a:bodyPr/>
          <a:lstStyle/>
          <a:p>
            <a:fld id="{FDE65C8D-442B-4200-B55D-D138FBAF3EEE}" type="slidenum">
              <a:rPr lang="en-US" smtClean="0"/>
              <a:t>5</a:t>
            </a:fld>
            <a:endParaRPr lang="en-US"/>
          </a:p>
        </p:txBody>
      </p:sp>
    </p:spTree>
    <p:extLst>
      <p:ext uri="{BB962C8B-B14F-4D97-AF65-F5344CB8AC3E}">
        <p14:creationId xmlns:p14="http://schemas.microsoft.com/office/powerpoint/2010/main" val="17507280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Multiple modeling techniques were applied to extract insights from the dataset. Regression analysis was used to predict customer monetary value, showing moderate accuracy. Classification models helped identify high-value and low-value customers, supporting targeted marketing strategies. K-Means clustering was applied to segment customers into groups based on purchasing behavior, with the elbow method indicating four optimal clusters. These clusters represent different customer types, such as high-value buyers and occasional customers. Additionally, association rule mining identified relationships between frequently purchased products, enabling cross-selling opportunities. Together, these techniques provide a comprehensive understanding of customer patterns and support data-driven decision-making in business environments.</a:t>
            </a:r>
          </a:p>
        </p:txBody>
      </p:sp>
      <p:sp>
        <p:nvSpPr>
          <p:cNvPr id="4" name="Slide Number Placeholder 3"/>
          <p:cNvSpPr>
            <a:spLocks noGrp="1"/>
          </p:cNvSpPr>
          <p:nvPr>
            <p:ph type="sldNum" sz="quarter" idx="5"/>
          </p:nvPr>
        </p:nvSpPr>
        <p:spPr/>
        <p:txBody>
          <a:bodyPr/>
          <a:lstStyle/>
          <a:p>
            <a:fld id="{FDE65C8D-442B-4200-B55D-D138FBAF3EEE}" type="slidenum">
              <a:rPr lang="en-US" smtClean="0"/>
              <a:t>6</a:t>
            </a:fld>
            <a:endParaRPr lang="en-US"/>
          </a:p>
        </p:txBody>
      </p:sp>
    </p:spTree>
    <p:extLst>
      <p:ext uri="{BB962C8B-B14F-4D97-AF65-F5344CB8AC3E}">
        <p14:creationId xmlns:p14="http://schemas.microsoft.com/office/powerpoint/2010/main" val="112134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analysis revealed several key insights that are critical for business strategy. A small group of high-value customers contributes significantly to overall revenue, making customer retention essential. Seasonal trends influence sales, highlighting the need for effective demand forecasting. Product analysis showed that a few items dominate sales, emphasizing inventory optimization. Based on these insights, businesses should implement customer segmentation strategies to deliver personalized marketing campaigns. High-value customers should be targeted with loyalty programs. Cross-selling strategies based on association rules can increase transaction value. Additionally, dynamic pricing and geographic expansion can further enhance business growth and reduce reliance on specific markets.</a:t>
            </a:r>
          </a:p>
        </p:txBody>
      </p:sp>
      <p:sp>
        <p:nvSpPr>
          <p:cNvPr id="4" name="Slide Number Placeholder 3"/>
          <p:cNvSpPr>
            <a:spLocks noGrp="1"/>
          </p:cNvSpPr>
          <p:nvPr>
            <p:ph type="sldNum" sz="quarter" idx="5"/>
          </p:nvPr>
        </p:nvSpPr>
        <p:spPr/>
        <p:txBody>
          <a:bodyPr/>
          <a:lstStyle/>
          <a:p>
            <a:fld id="{FDE65C8D-442B-4200-B55D-D138FBAF3EEE}" type="slidenum">
              <a:rPr lang="en-US" smtClean="0"/>
              <a:t>7</a:t>
            </a:fld>
            <a:endParaRPr lang="en-US"/>
          </a:p>
        </p:txBody>
      </p:sp>
    </p:spTree>
    <p:extLst>
      <p:ext uri="{BB962C8B-B14F-4D97-AF65-F5344CB8AC3E}">
        <p14:creationId xmlns:p14="http://schemas.microsoft.com/office/powerpoint/2010/main" val="25111104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Ethical considerations are essential in any data analytics project. This study ensured data privacy by not using personally identifiable information. However, dataset bias was identified, particularly the dominance of UK customers, which may affect model generalization. Transparency was maintained by documenting all data processing and modeling steps. It is important that insights derived from data are used responsibly to improve customer experience rather than manipulate behavior. In conclusion, this project demonstrates the power of data analytics in transforming raw data into actionable insights. Future improvements may include advanced machine learning models, real-time analytics, and integration with recommendation systems to enhance business performance further.</a:t>
            </a:r>
          </a:p>
        </p:txBody>
      </p:sp>
      <p:sp>
        <p:nvSpPr>
          <p:cNvPr id="4" name="Slide Number Placeholder 3"/>
          <p:cNvSpPr>
            <a:spLocks noGrp="1"/>
          </p:cNvSpPr>
          <p:nvPr>
            <p:ph type="sldNum" sz="quarter" idx="5"/>
          </p:nvPr>
        </p:nvSpPr>
        <p:spPr/>
        <p:txBody>
          <a:bodyPr/>
          <a:lstStyle/>
          <a:p>
            <a:fld id="{FDE65C8D-442B-4200-B55D-D138FBAF3EEE}" type="slidenum">
              <a:rPr lang="en-US" smtClean="0"/>
              <a:t>8</a:t>
            </a:fld>
            <a:endParaRPr lang="en-US"/>
          </a:p>
        </p:txBody>
      </p:sp>
    </p:spTree>
    <p:extLst>
      <p:ext uri="{BB962C8B-B14F-4D97-AF65-F5344CB8AC3E}">
        <p14:creationId xmlns:p14="http://schemas.microsoft.com/office/powerpoint/2010/main" val="426337340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B61BEF0D-F0BB-DE4B-95CE-6DB70DBA9567}" type="datetimeFigureOut">
              <a:rPr lang="en-US" dirty="0"/>
              <a:pPr/>
              <a:t>4/22/2026</a:t>
            </a:fld>
            <a:endParaRPr lang="en-US" dirty="0"/>
          </a:p>
        </p:txBody>
      </p:sp>
      <p:sp>
        <p:nvSpPr>
          <p:cNvPr id="5" name="Footer Placeholder 4"/>
          <p:cNvSpPr>
            <a:spLocks noGrp="1"/>
          </p:cNvSpPr>
          <p:nvPr>
            <p:ph type="ftr" sz="quarter" idx="11"/>
          </p:nvPr>
        </p:nvSpPr>
        <p:spPr>
          <a:xfrm>
            <a:off x="2692397" y="5037663"/>
            <a:ext cx="5214635" cy="279400"/>
          </a:xfrm>
        </p:spPr>
        <p:txBody>
          <a:bodyPr/>
          <a:lstStyle/>
          <a:p>
            <a:endParaRPr lang="en-US" dirty="0"/>
          </a:p>
        </p:txBody>
      </p:sp>
      <p:sp>
        <p:nvSpPr>
          <p:cNvPr id="6" name="Slide Number Placeholder 5"/>
          <p:cNvSpPr>
            <a:spLocks noGrp="1"/>
          </p:cNvSpPr>
          <p:nvPr>
            <p:ph type="sldNum" sz="quarter" idx="12"/>
          </p:nvPr>
        </p:nvSpPr>
        <p:spPr>
          <a:xfrm>
            <a:off x="8956900" y="5037663"/>
            <a:ext cx="551167" cy="279400"/>
          </a:xfrm>
        </p:spPr>
        <p:txBody>
          <a:bodyPr/>
          <a:lstStyle/>
          <a:p>
            <a:fld id="{D57F1E4F-1CFF-5643-939E-217C01CDF565}" type="slidenum">
              <a:rPr lang="en-US" dirty="0"/>
              <a:pPr/>
              <a:t>‹#›</a:t>
            </a:fld>
            <a:endParaRPr lang="en-US" dirty="0"/>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transition spd="slow">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647F38-B617-4D2F-AE0A-013F0C4D2C57}" type="datetimeFigureOut">
              <a:rPr lang="en-US" dirty="0"/>
              <a:t>4/22/2026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97799C9-84D9-46D2-A11E-BCF8A720529D}" type="slidenum">
              <a:rPr lang="en-US" dirty="0"/>
              <a:t>‹#›</a:t>
            </a:fld>
            <a:endParaRPr lang="en-US" dirty="0"/>
          </a:p>
        </p:txBody>
      </p:sp>
    </p:spTree>
  </p:cSld>
  <p:clrMapOvr>
    <a:masterClrMapping/>
  </p:clrMapOvr>
  <p:transition spd="slow">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transition spd="slow">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dirty="0"/>
              <a:t>4/22/2026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dirty="0"/>
              <a:t>‹#›</a:t>
            </a:fld>
            <a:endParaRPr lang="en-US" dirty="0"/>
          </a:p>
        </p:txBody>
      </p:sp>
    </p:spTree>
  </p:cSld>
  <p:clrMapOvr>
    <a:masterClrMapping/>
  </p:clrMapOvr>
  <p:transition spd="slow">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4/22/2026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transition spd="slow">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4/22/2026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transition spd="slow">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4/22/2026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transition spd="slow">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transition spd="slow">
    <p:push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transition spd="slow">
    <p:push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transition spd="slow">
    <p:push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transition spd="slow">
    <p:push dir="u"/>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transition spd="slow">
    <p:push dir="u"/>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transition spd="slow">
    <p:push dir="u"/>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transition spd="slow">
    <p:push dir="u"/>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transition spd="slow">
    <p:push dir="u"/>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transition spd="slow">
    <p:push dir="u"/>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4/22/2026</a:t>
            </a:fld>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8" r:id="rId2"/>
    <p:sldLayoutId id="2147483651" r:id="rId3"/>
    <p:sldLayoutId id="2147483669"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ransition spd="slow">
    <p:push dir="u"/>
  </p:transition>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49972-A816-B775-F7AD-B6E7DF756213}"/>
              </a:ext>
            </a:extLst>
          </p:cNvPr>
          <p:cNvSpPr>
            <a:spLocks noGrp="1"/>
          </p:cNvSpPr>
          <p:nvPr>
            <p:ph type="ctrTitle"/>
          </p:nvPr>
        </p:nvSpPr>
        <p:spPr>
          <a:xfrm>
            <a:off x="2692398" y="1629295"/>
            <a:ext cx="6950366" cy="1757369"/>
          </a:xfrm>
        </p:spPr>
        <p:txBody>
          <a:bodyPr/>
          <a:lstStyle/>
          <a:p>
            <a:r>
              <a:rPr lang="en-US" sz="2000" b="1" dirty="0"/>
              <a:t>FINAL INSIGHTS, RECOMMENDATIONS, AND ANALYSIS OF ONLINE RETAIL DATASET</a:t>
            </a:r>
            <a:br>
              <a:rPr lang="en-US" dirty="0"/>
            </a:br>
            <a:endParaRPr lang="en-US" dirty="0"/>
          </a:p>
        </p:txBody>
      </p:sp>
      <p:sp>
        <p:nvSpPr>
          <p:cNvPr id="3" name="Subtitle 2">
            <a:extLst>
              <a:ext uri="{FF2B5EF4-FFF2-40B4-BE49-F238E27FC236}">
                <a16:creationId xmlns:a16="http://schemas.microsoft.com/office/drawing/2014/main" id="{D30FF94E-3C1F-D964-0DB8-472D2ABD23D9}"/>
              </a:ext>
            </a:extLst>
          </p:cNvPr>
          <p:cNvSpPr>
            <a:spLocks noGrp="1"/>
          </p:cNvSpPr>
          <p:nvPr>
            <p:ph type="subTitle" idx="1"/>
          </p:nvPr>
        </p:nvSpPr>
        <p:spPr/>
        <p:txBody>
          <a:bodyPr>
            <a:normAutofit lnSpcReduction="10000"/>
          </a:bodyPr>
          <a:lstStyle/>
          <a:p>
            <a:r>
              <a:rPr lang="en-US" dirty="0"/>
              <a:t>Shivam Trivedi</a:t>
            </a:r>
          </a:p>
          <a:p>
            <a:r>
              <a:rPr lang="en-US" dirty="0"/>
              <a:t>Dr. Satish</a:t>
            </a:r>
          </a:p>
          <a:p>
            <a:r>
              <a:rPr lang="en-US" dirty="0"/>
              <a:t>22</a:t>
            </a:r>
            <a:r>
              <a:rPr lang="en-US" baseline="30000" dirty="0"/>
              <a:t>nd</a:t>
            </a:r>
            <a:r>
              <a:rPr lang="en-US" dirty="0"/>
              <a:t> April 2026</a:t>
            </a:r>
          </a:p>
        </p:txBody>
      </p:sp>
    </p:spTree>
    <p:extLst>
      <p:ext uri="{BB962C8B-B14F-4D97-AF65-F5344CB8AC3E}">
        <p14:creationId xmlns:p14="http://schemas.microsoft.com/office/powerpoint/2010/main" val="593128435"/>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CC22E4-716C-2384-DFED-B91E59C7644E}"/>
              </a:ext>
            </a:extLst>
          </p:cNvPr>
          <p:cNvSpPr>
            <a:spLocks noGrp="1"/>
          </p:cNvSpPr>
          <p:nvPr>
            <p:ph type="title"/>
          </p:nvPr>
        </p:nvSpPr>
        <p:spPr/>
        <p:txBody>
          <a:bodyPr>
            <a:normAutofit fontScale="90000"/>
          </a:bodyPr>
          <a:lstStyle/>
          <a:p>
            <a:r>
              <a:rPr lang="en-US" b="1" dirty="0"/>
              <a:t>Introduction &amp; Objective</a:t>
            </a:r>
            <a:br>
              <a:rPr lang="en-US" b="1" dirty="0"/>
            </a:br>
            <a:endParaRPr lang="en-US" dirty="0"/>
          </a:p>
        </p:txBody>
      </p:sp>
      <p:sp>
        <p:nvSpPr>
          <p:cNvPr id="3" name="Content Placeholder 2">
            <a:extLst>
              <a:ext uri="{FF2B5EF4-FFF2-40B4-BE49-F238E27FC236}">
                <a16:creationId xmlns:a16="http://schemas.microsoft.com/office/drawing/2014/main" id="{ED2AA67E-BA34-64E5-D36C-A6538785C3B3}"/>
              </a:ext>
            </a:extLst>
          </p:cNvPr>
          <p:cNvSpPr>
            <a:spLocks noGrp="1"/>
          </p:cNvSpPr>
          <p:nvPr>
            <p:ph idx="1"/>
          </p:nvPr>
        </p:nvSpPr>
        <p:spPr/>
        <p:txBody>
          <a:bodyPr/>
          <a:lstStyle/>
          <a:p>
            <a:r>
              <a:rPr lang="en-US" dirty="0"/>
              <a:t>Online retail data analytics project </a:t>
            </a:r>
          </a:p>
          <a:p>
            <a:r>
              <a:rPr lang="en-US" dirty="0"/>
              <a:t>Focus on customer behavior insights </a:t>
            </a:r>
          </a:p>
          <a:p>
            <a:r>
              <a:rPr lang="en-US" dirty="0"/>
              <a:t>Apply machine learning techniques </a:t>
            </a:r>
          </a:p>
          <a:p>
            <a:r>
              <a:rPr lang="en-US" dirty="0"/>
              <a:t>Support business decision-making </a:t>
            </a:r>
          </a:p>
          <a:p>
            <a:r>
              <a:rPr lang="en-US" dirty="0"/>
              <a:t>Transform raw data into insights</a:t>
            </a:r>
          </a:p>
          <a:p>
            <a:endParaRPr lang="en-US" dirty="0"/>
          </a:p>
        </p:txBody>
      </p:sp>
    </p:spTree>
    <p:extLst>
      <p:ext uri="{BB962C8B-B14F-4D97-AF65-F5344CB8AC3E}">
        <p14:creationId xmlns:p14="http://schemas.microsoft.com/office/powerpoint/2010/main" val="397124519"/>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FDDDEA-6CBB-6586-D58E-F392428ABE0D}"/>
              </a:ext>
            </a:extLst>
          </p:cNvPr>
          <p:cNvSpPr>
            <a:spLocks noGrp="1"/>
          </p:cNvSpPr>
          <p:nvPr>
            <p:ph type="title"/>
          </p:nvPr>
        </p:nvSpPr>
        <p:spPr/>
        <p:txBody>
          <a:bodyPr>
            <a:normAutofit fontScale="90000"/>
          </a:bodyPr>
          <a:lstStyle/>
          <a:p>
            <a:r>
              <a:rPr lang="en-US" b="1" dirty="0"/>
              <a:t>Dataset Overview</a:t>
            </a:r>
            <a:br>
              <a:rPr lang="en-US" b="1" dirty="0"/>
            </a:br>
            <a:endParaRPr lang="en-US" dirty="0"/>
          </a:p>
        </p:txBody>
      </p:sp>
      <p:sp>
        <p:nvSpPr>
          <p:cNvPr id="3" name="Content Placeholder 2">
            <a:extLst>
              <a:ext uri="{FF2B5EF4-FFF2-40B4-BE49-F238E27FC236}">
                <a16:creationId xmlns:a16="http://schemas.microsoft.com/office/drawing/2014/main" id="{13CA1767-E749-DA02-F086-9C5D2F3F5443}"/>
              </a:ext>
            </a:extLst>
          </p:cNvPr>
          <p:cNvSpPr>
            <a:spLocks noGrp="1"/>
          </p:cNvSpPr>
          <p:nvPr>
            <p:ph idx="1"/>
          </p:nvPr>
        </p:nvSpPr>
        <p:spPr/>
        <p:txBody>
          <a:bodyPr/>
          <a:lstStyle/>
          <a:p>
            <a:r>
              <a:rPr lang="en-US" dirty="0"/>
              <a:t>Transactional online retail dataset </a:t>
            </a:r>
          </a:p>
          <a:p>
            <a:r>
              <a:rPr lang="en-US" dirty="0"/>
              <a:t>Includes customers, products, countries </a:t>
            </a:r>
          </a:p>
          <a:p>
            <a:r>
              <a:rPr lang="en-US" dirty="0"/>
              <a:t>Key variables: price, quantity </a:t>
            </a:r>
          </a:p>
          <a:p>
            <a:r>
              <a:rPr lang="en-US" dirty="0"/>
              <a:t>Derived features: RFM metrics </a:t>
            </a:r>
          </a:p>
          <a:p>
            <a:r>
              <a:rPr lang="en-US" dirty="0"/>
              <a:t>Strong UK market dominance</a:t>
            </a:r>
          </a:p>
          <a:p>
            <a:endParaRPr lang="en-US" dirty="0"/>
          </a:p>
        </p:txBody>
      </p:sp>
    </p:spTree>
    <p:extLst>
      <p:ext uri="{BB962C8B-B14F-4D97-AF65-F5344CB8AC3E}">
        <p14:creationId xmlns:p14="http://schemas.microsoft.com/office/powerpoint/2010/main" val="1547859216"/>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4AF35-967E-6F99-83D6-0C222B9A7FCD}"/>
              </a:ext>
            </a:extLst>
          </p:cNvPr>
          <p:cNvSpPr>
            <a:spLocks noGrp="1"/>
          </p:cNvSpPr>
          <p:nvPr>
            <p:ph type="title"/>
          </p:nvPr>
        </p:nvSpPr>
        <p:spPr/>
        <p:txBody>
          <a:bodyPr>
            <a:normAutofit fontScale="90000"/>
          </a:bodyPr>
          <a:lstStyle/>
          <a:p>
            <a:r>
              <a:rPr lang="en-US" b="1" dirty="0"/>
              <a:t>Data Preprocessing</a:t>
            </a:r>
            <a:br>
              <a:rPr lang="en-US" b="1" dirty="0"/>
            </a:br>
            <a:endParaRPr lang="en-US" dirty="0"/>
          </a:p>
        </p:txBody>
      </p:sp>
      <p:sp>
        <p:nvSpPr>
          <p:cNvPr id="3" name="Content Placeholder 2">
            <a:extLst>
              <a:ext uri="{FF2B5EF4-FFF2-40B4-BE49-F238E27FC236}">
                <a16:creationId xmlns:a16="http://schemas.microsoft.com/office/drawing/2014/main" id="{060E5140-5625-EC00-9C72-4373F1B0D15A}"/>
              </a:ext>
            </a:extLst>
          </p:cNvPr>
          <p:cNvSpPr>
            <a:spLocks noGrp="1"/>
          </p:cNvSpPr>
          <p:nvPr>
            <p:ph idx="1"/>
          </p:nvPr>
        </p:nvSpPr>
        <p:spPr/>
        <p:txBody>
          <a:bodyPr/>
          <a:lstStyle/>
          <a:p>
            <a:r>
              <a:rPr lang="en-US" dirty="0"/>
              <a:t>Handled missing </a:t>
            </a:r>
            <a:r>
              <a:rPr lang="en-US" dirty="0" err="1"/>
              <a:t>CustomerID</a:t>
            </a:r>
            <a:r>
              <a:rPr lang="en-US" dirty="0"/>
              <a:t> values </a:t>
            </a:r>
          </a:p>
          <a:p>
            <a:r>
              <a:rPr lang="en-US" dirty="0"/>
              <a:t>Removed incomplete records </a:t>
            </a:r>
          </a:p>
          <a:p>
            <a:r>
              <a:rPr lang="en-US" dirty="0"/>
              <a:t>Managed outliers in pricing </a:t>
            </a:r>
          </a:p>
          <a:p>
            <a:r>
              <a:rPr lang="en-US" dirty="0"/>
              <a:t>Cleaned duplicates and inconsistencies </a:t>
            </a:r>
          </a:p>
          <a:p>
            <a:r>
              <a:rPr lang="en-US" dirty="0"/>
              <a:t>Created new analytical features</a:t>
            </a:r>
          </a:p>
          <a:p>
            <a:endParaRPr lang="en-US" dirty="0"/>
          </a:p>
        </p:txBody>
      </p:sp>
    </p:spTree>
    <p:extLst>
      <p:ext uri="{BB962C8B-B14F-4D97-AF65-F5344CB8AC3E}">
        <p14:creationId xmlns:p14="http://schemas.microsoft.com/office/powerpoint/2010/main" val="4254937463"/>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0EA0A6-DCAC-04E3-02CD-440FE1173EE0}"/>
              </a:ext>
            </a:extLst>
          </p:cNvPr>
          <p:cNvSpPr>
            <a:spLocks noGrp="1"/>
          </p:cNvSpPr>
          <p:nvPr>
            <p:ph type="title"/>
          </p:nvPr>
        </p:nvSpPr>
        <p:spPr/>
        <p:txBody>
          <a:bodyPr>
            <a:normAutofit fontScale="90000"/>
          </a:bodyPr>
          <a:lstStyle/>
          <a:p>
            <a:r>
              <a:rPr lang="en-US" b="1" dirty="0"/>
              <a:t>Exploratory Data Analysis</a:t>
            </a:r>
            <a:br>
              <a:rPr lang="en-US" b="1" dirty="0"/>
            </a:br>
            <a:endParaRPr lang="en-US" dirty="0"/>
          </a:p>
        </p:txBody>
      </p:sp>
      <p:sp>
        <p:nvSpPr>
          <p:cNvPr id="3" name="Content Placeholder 2">
            <a:extLst>
              <a:ext uri="{FF2B5EF4-FFF2-40B4-BE49-F238E27FC236}">
                <a16:creationId xmlns:a16="http://schemas.microsoft.com/office/drawing/2014/main" id="{E6CB1BFC-71AA-2640-5AFB-4782E9E0406F}"/>
              </a:ext>
            </a:extLst>
          </p:cNvPr>
          <p:cNvSpPr>
            <a:spLocks noGrp="1"/>
          </p:cNvSpPr>
          <p:nvPr>
            <p:ph idx="1"/>
          </p:nvPr>
        </p:nvSpPr>
        <p:spPr/>
        <p:txBody>
          <a:bodyPr/>
          <a:lstStyle/>
          <a:p>
            <a:r>
              <a:rPr lang="en-US" dirty="0"/>
              <a:t>Identified seasonal sales trends </a:t>
            </a:r>
          </a:p>
          <a:p>
            <a:r>
              <a:rPr lang="en-US" dirty="0"/>
              <a:t>Top products dominate revenue </a:t>
            </a:r>
          </a:p>
          <a:p>
            <a:r>
              <a:rPr lang="en-US" dirty="0"/>
              <a:t>UK leads global sales </a:t>
            </a:r>
          </a:p>
          <a:p>
            <a:r>
              <a:rPr lang="en-US" dirty="0"/>
              <a:t>Price distribution mostly low-cost </a:t>
            </a:r>
          </a:p>
          <a:p>
            <a:r>
              <a:rPr lang="en-US" dirty="0"/>
              <a:t>Strong feature correlations observed</a:t>
            </a:r>
          </a:p>
          <a:p>
            <a:endParaRPr lang="en-US" dirty="0"/>
          </a:p>
        </p:txBody>
      </p:sp>
    </p:spTree>
    <p:extLst>
      <p:ext uri="{BB962C8B-B14F-4D97-AF65-F5344CB8AC3E}">
        <p14:creationId xmlns:p14="http://schemas.microsoft.com/office/powerpoint/2010/main" val="133694339"/>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86B7B5-85B9-AADE-1114-49A3681F2595}"/>
              </a:ext>
            </a:extLst>
          </p:cNvPr>
          <p:cNvSpPr>
            <a:spLocks noGrp="1"/>
          </p:cNvSpPr>
          <p:nvPr>
            <p:ph type="title"/>
          </p:nvPr>
        </p:nvSpPr>
        <p:spPr/>
        <p:txBody>
          <a:bodyPr>
            <a:normAutofit fontScale="90000"/>
          </a:bodyPr>
          <a:lstStyle/>
          <a:p>
            <a:r>
              <a:rPr lang="en-US" b="1" dirty="0"/>
              <a:t>Modeling Techniques</a:t>
            </a:r>
            <a:br>
              <a:rPr lang="en-US" b="1" dirty="0"/>
            </a:br>
            <a:endParaRPr lang="en-US" dirty="0"/>
          </a:p>
        </p:txBody>
      </p:sp>
      <p:sp>
        <p:nvSpPr>
          <p:cNvPr id="3" name="Content Placeholder 2">
            <a:extLst>
              <a:ext uri="{FF2B5EF4-FFF2-40B4-BE49-F238E27FC236}">
                <a16:creationId xmlns:a16="http://schemas.microsoft.com/office/drawing/2014/main" id="{71905727-A418-1C68-CEE3-622F52E761DF}"/>
              </a:ext>
            </a:extLst>
          </p:cNvPr>
          <p:cNvSpPr>
            <a:spLocks noGrp="1"/>
          </p:cNvSpPr>
          <p:nvPr>
            <p:ph idx="1"/>
          </p:nvPr>
        </p:nvSpPr>
        <p:spPr/>
        <p:txBody>
          <a:bodyPr/>
          <a:lstStyle/>
          <a:p>
            <a:r>
              <a:rPr lang="en-US" dirty="0"/>
              <a:t>Regression predicts spending behavior </a:t>
            </a:r>
          </a:p>
          <a:p>
            <a:r>
              <a:rPr lang="en-US" dirty="0"/>
              <a:t>Classification identifies customer segments </a:t>
            </a:r>
          </a:p>
          <a:p>
            <a:r>
              <a:rPr lang="en-US" dirty="0"/>
              <a:t>K-Means clustering groups customers </a:t>
            </a:r>
          </a:p>
          <a:p>
            <a:r>
              <a:rPr lang="en-US" dirty="0"/>
              <a:t>Elbow method suggests four clusters </a:t>
            </a:r>
          </a:p>
          <a:p>
            <a:r>
              <a:rPr lang="en-US" dirty="0"/>
              <a:t>Association rules reveal product links</a:t>
            </a:r>
          </a:p>
          <a:p>
            <a:endParaRPr lang="en-US" dirty="0"/>
          </a:p>
        </p:txBody>
      </p:sp>
    </p:spTree>
    <p:extLst>
      <p:ext uri="{BB962C8B-B14F-4D97-AF65-F5344CB8AC3E}">
        <p14:creationId xmlns:p14="http://schemas.microsoft.com/office/powerpoint/2010/main" val="3332090697"/>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06314-8078-45F5-BD84-BAB0E1112179}"/>
              </a:ext>
            </a:extLst>
          </p:cNvPr>
          <p:cNvSpPr>
            <a:spLocks noGrp="1"/>
          </p:cNvSpPr>
          <p:nvPr>
            <p:ph type="title"/>
          </p:nvPr>
        </p:nvSpPr>
        <p:spPr/>
        <p:txBody>
          <a:bodyPr>
            <a:normAutofit fontScale="90000"/>
          </a:bodyPr>
          <a:lstStyle/>
          <a:p>
            <a:r>
              <a:rPr lang="en-US" b="1" dirty="0"/>
              <a:t>Key Insights &amp; Recommendations</a:t>
            </a:r>
            <a:br>
              <a:rPr lang="en-US" b="1" dirty="0"/>
            </a:br>
            <a:endParaRPr lang="en-US" dirty="0"/>
          </a:p>
        </p:txBody>
      </p:sp>
      <p:sp>
        <p:nvSpPr>
          <p:cNvPr id="3" name="Content Placeholder 2">
            <a:extLst>
              <a:ext uri="{FF2B5EF4-FFF2-40B4-BE49-F238E27FC236}">
                <a16:creationId xmlns:a16="http://schemas.microsoft.com/office/drawing/2014/main" id="{90424306-46E4-0A42-0632-9E0A7FDD96D3}"/>
              </a:ext>
            </a:extLst>
          </p:cNvPr>
          <p:cNvSpPr>
            <a:spLocks noGrp="1"/>
          </p:cNvSpPr>
          <p:nvPr>
            <p:ph idx="1"/>
          </p:nvPr>
        </p:nvSpPr>
        <p:spPr/>
        <p:txBody>
          <a:bodyPr/>
          <a:lstStyle/>
          <a:p>
            <a:r>
              <a:rPr lang="en-US" dirty="0"/>
              <a:t>High-value customers drive revenue </a:t>
            </a:r>
          </a:p>
          <a:p>
            <a:r>
              <a:rPr lang="en-US" dirty="0"/>
              <a:t>Seasonal demand impacts sales </a:t>
            </a:r>
          </a:p>
          <a:p>
            <a:r>
              <a:rPr lang="en-US" dirty="0"/>
              <a:t>Focus on top-selling products </a:t>
            </a:r>
          </a:p>
          <a:p>
            <a:r>
              <a:rPr lang="en-US" dirty="0"/>
              <a:t>Use segmentation for marketing </a:t>
            </a:r>
          </a:p>
          <a:p>
            <a:r>
              <a:rPr lang="en-US" dirty="0"/>
              <a:t>Apply cross-selling strategies</a:t>
            </a:r>
          </a:p>
          <a:p>
            <a:endParaRPr lang="en-US" dirty="0"/>
          </a:p>
        </p:txBody>
      </p:sp>
    </p:spTree>
    <p:extLst>
      <p:ext uri="{BB962C8B-B14F-4D97-AF65-F5344CB8AC3E}">
        <p14:creationId xmlns:p14="http://schemas.microsoft.com/office/powerpoint/2010/main" val="4031373531"/>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5A088-1424-DCD3-3761-929FADF99E3D}"/>
              </a:ext>
            </a:extLst>
          </p:cNvPr>
          <p:cNvSpPr>
            <a:spLocks noGrp="1"/>
          </p:cNvSpPr>
          <p:nvPr>
            <p:ph type="title"/>
          </p:nvPr>
        </p:nvSpPr>
        <p:spPr/>
        <p:txBody>
          <a:bodyPr>
            <a:normAutofit fontScale="90000"/>
          </a:bodyPr>
          <a:lstStyle/>
          <a:p>
            <a:r>
              <a:rPr lang="en-US" b="1" dirty="0"/>
              <a:t>Ethical Considerations &amp; Conclusion</a:t>
            </a:r>
            <a:br>
              <a:rPr lang="en-US" b="1" dirty="0"/>
            </a:br>
            <a:endParaRPr lang="en-US" dirty="0"/>
          </a:p>
        </p:txBody>
      </p:sp>
      <p:sp>
        <p:nvSpPr>
          <p:cNvPr id="3" name="Content Placeholder 2">
            <a:extLst>
              <a:ext uri="{FF2B5EF4-FFF2-40B4-BE49-F238E27FC236}">
                <a16:creationId xmlns:a16="http://schemas.microsoft.com/office/drawing/2014/main" id="{3BAA758C-C185-75FD-B341-9CBF0BA38F22}"/>
              </a:ext>
            </a:extLst>
          </p:cNvPr>
          <p:cNvSpPr>
            <a:spLocks noGrp="1"/>
          </p:cNvSpPr>
          <p:nvPr>
            <p:ph idx="1"/>
          </p:nvPr>
        </p:nvSpPr>
        <p:spPr/>
        <p:txBody>
          <a:bodyPr/>
          <a:lstStyle/>
          <a:p>
            <a:r>
              <a:rPr lang="en-US" dirty="0"/>
              <a:t>Ensure data privacy protection </a:t>
            </a:r>
          </a:p>
          <a:p>
            <a:r>
              <a:rPr lang="en-US" dirty="0"/>
              <a:t>Address dataset bias issues </a:t>
            </a:r>
          </a:p>
          <a:p>
            <a:r>
              <a:rPr lang="en-US" dirty="0"/>
              <a:t>Maintain transparency in models </a:t>
            </a:r>
          </a:p>
          <a:p>
            <a:r>
              <a:rPr lang="en-US" dirty="0"/>
              <a:t>Use insights responsibly </a:t>
            </a:r>
          </a:p>
          <a:p>
            <a:r>
              <a:rPr lang="en-US" dirty="0"/>
              <a:t>Future scope: advanced analytics</a:t>
            </a:r>
          </a:p>
          <a:p>
            <a:endParaRPr lang="en-US" dirty="0"/>
          </a:p>
        </p:txBody>
      </p:sp>
    </p:spTree>
    <p:extLst>
      <p:ext uri="{BB962C8B-B14F-4D97-AF65-F5344CB8AC3E}">
        <p14:creationId xmlns:p14="http://schemas.microsoft.com/office/powerpoint/2010/main" val="582091202"/>
      </p:ext>
    </p:extLst>
  </p:cSld>
  <p:clrMapOvr>
    <a:masterClrMapping/>
  </p:clrMapOvr>
  <p:transition spd="slow">
    <p:push dir="u"/>
  </p:transition>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6</TotalTime>
  <Words>1011</Words>
  <Application>Microsoft Office PowerPoint</Application>
  <PresentationFormat>Widescreen</PresentationFormat>
  <Paragraphs>60</Paragraphs>
  <Slides>8</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Garamond</vt:lpstr>
      <vt:lpstr>Organic</vt:lpstr>
      <vt:lpstr>FINAL INSIGHTS, RECOMMENDATIONS, AND ANALYSIS OF ONLINE RETAIL DATASET </vt:lpstr>
      <vt:lpstr>Introduction &amp; Objective </vt:lpstr>
      <vt:lpstr>Dataset Overview </vt:lpstr>
      <vt:lpstr>Data Preprocessing </vt:lpstr>
      <vt:lpstr>Exploratory Data Analysis </vt:lpstr>
      <vt:lpstr>Modeling Techniques </vt:lpstr>
      <vt:lpstr>Key Insights &amp; Recommendations </vt:lpstr>
      <vt:lpstr>Ethical Considerations &amp; 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simon mwangi</dc:creator>
  <cp:lastModifiedBy>simon mwangi</cp:lastModifiedBy>
  <cp:revision>2</cp:revision>
  <dcterms:created xsi:type="dcterms:W3CDTF">2026-04-22T07:33:11Z</dcterms:created>
  <dcterms:modified xsi:type="dcterms:W3CDTF">2026-04-22T07:39:41Z</dcterms:modified>
</cp:coreProperties>
</file>